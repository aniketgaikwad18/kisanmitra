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Indian agriculture doesn't suffer from a lack of data—it suffers from disconnected data. Every morning, a farmer asks: Is it going to rain? Should I spray pesticide? What is my soil deficient in? Where can I sell for the best price? Today, these answers live in six different places. Fragmented information leads to uncertain decisions and crop loss. Our mission is turning scattered data into one clear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KisanMitra. Rather than building another generic chatbot, we created a connected decision-support engine. KisanMitra brings together AI visual crop diagnostics, deterministic ICAR soil scoring, hyperlocal weather spray windows, official APMC mandi prices, government schemes, and crop guides. Every module shares context with our AI Farmer Assistant, available natively in 5 regional Indian languages.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focus is the individual smallholder farmer who needs immediate, jargon-free answers in their native tongue. Secondarily, our modular architecture serves FPOs and agricultural institutions to deliver shared agronomic intelligence across rural clusters.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KisanMitra uses Next.js 14 and FastAPI with a hybrid intelligence philosophy: we use Gemini 1.5 Flash for computer vision and conversational reasoning, but we rely on deterministic ICAR agronomic models for soil scoring and spray window calculations. Zero API keys touch the frontend, and our hybrid RAG pipeline grounds every assistant response in real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KisanMitra begins as a high-utility free platform for individual farmers, building grassroots trust. As we scale, our business potential expands into B2B group dashboards for FPOs, institutional SaaS for agricultural NGOs and government programs, and enterprise data intelligence for sustainable agri-supply chains.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KisanMitra unifies 8 vital agricultural capabilities. Tomorrow, we evolve into a fully connected farm platform: adding voice-first interactions for regional dialects, IoT soil probe telemetry, satellite NDVI remote sensing, and predictive pest outbreak forecasting before diseases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we had more time, our top priority is voice-first Indic AI so any farmer can simply speak to their phone in their local dialect, followed by satellite NDVI sensing and direct KVK scientist escalation. KisanMitra is not just another farming app—it is the connected decision layer Indian agriculture needs.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548640"/>
          </a:xfrm>
          <a:prstGeom prst="rect">
            <a:avLst/>
          </a:prstGeom>
          <a:noFill/>
        </p:spPr>
        <p:txBody>
          <a:bodyPr wrap="square" lIns="0" tIns="0" rIns="0" bIns="0">
            <a:spAutoFit/>
          </a:bodyPr>
          <a:lstStyle/>
          <a:p>
            <a:pPr>
              <a:defRPr sz="1400" b="1">
                <a:solidFill>
                  <a:srgbClr val="587A4C"/>
                </a:solidFill>
                <a:latin typeface="Arial"/>
              </a:defRPr>
            </a:pPr>
            <a:r>
              <a:t>🌾 KisanMitra  |  </a:t>
            </a:r>
            <a:r>
              <a:rPr sz="1300" b="0">
                <a:solidFill>
                  <a:srgbClr val="667085"/>
                </a:solidFill>
              </a:rPr>
              <a:t>HACKDAY 1.0 — Tech for a Better Tomorrow</a:t>
            </a:r>
          </a:p>
        </p:txBody>
      </p:sp>
      <p:sp>
        <p:nvSpPr>
          <p:cNvPr id="4" name="TextBox 3"/>
          <p:cNvSpPr txBox="1"/>
          <p:nvPr/>
        </p:nvSpPr>
        <p:spPr>
          <a:xfrm>
            <a:off x="9601200" y="365760"/>
            <a:ext cx="1828800" cy="548640"/>
          </a:xfrm>
          <a:prstGeom prst="rect">
            <a:avLst/>
          </a:prstGeom>
          <a:noFill/>
        </p:spPr>
        <p:txBody>
          <a:bodyPr wrap="none">
            <a:spAutoFit/>
          </a:bodyPr>
          <a:lstStyle/>
          <a:p>
            <a:pPr algn="r">
              <a:defRPr sz="1200" b="1">
                <a:solidFill>
                  <a:srgbClr val="667085"/>
                </a:solidFill>
              </a:defRPr>
            </a:pPr>
            <a:r>
              <a:t>Slide 1 of 7</a:t>
            </a:r>
          </a:p>
        </p:txBody>
      </p:sp>
      <p:sp>
        <p:nvSpPr>
          <p:cNvPr id="5" name="TextBox 4"/>
          <p:cNvSpPr txBox="1"/>
          <p:nvPr/>
        </p:nvSpPr>
        <p:spPr>
          <a:xfrm>
            <a:off x="731520" y="1005840"/>
            <a:ext cx="10728655" cy="1097280"/>
          </a:xfrm>
          <a:prstGeom prst="rect">
            <a:avLst/>
          </a:prstGeom>
          <a:noFill/>
        </p:spPr>
        <p:txBody>
          <a:bodyPr wrap="square">
            <a:spAutoFit/>
          </a:bodyPr>
          <a:lstStyle/>
          <a:p>
            <a:pPr>
              <a:defRPr sz="2200" b="1">
                <a:solidFill>
                  <a:srgbClr val="1F2933"/>
                </a:solidFill>
              </a:defRPr>
            </a:pPr>
            <a:r>
              <a:t>“Farmers Don't Lack Information. They Lack Connected Information.”</a:t>
            </a:r>
          </a:p>
          <a:p>
            <a:pPr>
              <a:spcBef>
                <a:spcPts val="400"/>
              </a:spcBef>
              <a:defRPr sz="1300" b="1">
                <a:solidFill>
                  <a:srgbClr val="587A4C"/>
                </a:solidFill>
              </a:defRPr>
            </a:pPr>
            <a:r>
              <a:t>The Fragmented Agricultural Decision Bottleneck in Everyday Farming</a:t>
            </a:r>
          </a:p>
        </p:txBody>
      </p:sp>
      <p:sp>
        <p:nvSpPr>
          <p:cNvPr id="6" name="Rounded Rectangle 5"/>
          <p:cNvSpPr/>
          <p:nvPr/>
        </p:nvSpPr>
        <p:spPr>
          <a:xfrm>
            <a:off x="731520" y="2194560"/>
            <a:ext cx="3328416" cy="128016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331720"/>
            <a:ext cx="2999232" cy="1005840"/>
          </a:xfrm>
          <a:prstGeom prst="rect">
            <a:avLst/>
          </a:prstGeom>
          <a:noFill/>
        </p:spPr>
        <p:txBody>
          <a:bodyPr wrap="square" lIns="0" tIns="0" rIns="0" bIns="0">
            <a:spAutoFit/>
          </a:bodyPr>
          <a:lstStyle/>
          <a:p>
            <a:pPr>
              <a:defRPr sz="1300" b="1">
                <a:solidFill>
                  <a:srgbClr val="1F2933"/>
                </a:solidFill>
                <a:latin typeface="Arial"/>
              </a:defRPr>
            </a:pPr>
            <a:r>
              <a:t>🌿 Crop Disease Silo</a:t>
            </a:r>
          </a:p>
          <a:p>
            <a:pPr>
              <a:spcBef>
                <a:spcPts val="400"/>
              </a:spcBef>
              <a:defRPr sz="1100">
                <a:solidFill>
                  <a:srgbClr val="667085"/>
                </a:solidFill>
                <a:latin typeface="Arial"/>
              </a:defRPr>
            </a:pPr>
            <a:r>
              <a:t>Leaf symptoms misdiagnosed without instant expert access, leading to ineffective pesticide costs.</a:t>
            </a:r>
          </a:p>
        </p:txBody>
      </p:sp>
      <p:sp>
        <p:nvSpPr>
          <p:cNvPr id="8" name="Rounded Rectangle 7"/>
          <p:cNvSpPr/>
          <p:nvPr/>
        </p:nvSpPr>
        <p:spPr>
          <a:xfrm>
            <a:off x="4425696" y="2194560"/>
            <a:ext cx="3328416" cy="128016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2331720"/>
            <a:ext cx="2999232" cy="1005840"/>
          </a:xfrm>
          <a:prstGeom prst="rect">
            <a:avLst/>
          </a:prstGeom>
          <a:noFill/>
        </p:spPr>
        <p:txBody>
          <a:bodyPr wrap="square" lIns="0" tIns="0" rIns="0" bIns="0">
            <a:spAutoFit/>
          </a:bodyPr>
          <a:lstStyle/>
          <a:p>
            <a:pPr>
              <a:defRPr sz="1300" b="1">
                <a:solidFill>
                  <a:srgbClr val="1F2933"/>
                </a:solidFill>
                <a:latin typeface="Arial"/>
              </a:defRPr>
            </a:pPr>
            <a:r>
              <a:t>🧪 Soil Complexity</a:t>
            </a:r>
          </a:p>
          <a:p>
            <a:pPr>
              <a:spcBef>
                <a:spcPts val="400"/>
              </a:spcBef>
              <a:defRPr sz="1100">
                <a:solidFill>
                  <a:srgbClr val="667085"/>
                </a:solidFill>
                <a:latin typeface="Arial"/>
              </a:defRPr>
            </a:pPr>
            <a:r>
              <a:t>Raw soil test numbers (pH, NPK) are disconnected from crop-specific split fertilization schedules.</a:t>
            </a:r>
          </a:p>
        </p:txBody>
      </p:sp>
      <p:sp>
        <p:nvSpPr>
          <p:cNvPr id="10" name="Rounded Rectangle 9"/>
          <p:cNvSpPr/>
          <p:nvPr/>
        </p:nvSpPr>
        <p:spPr>
          <a:xfrm>
            <a:off x="8119872" y="2194560"/>
            <a:ext cx="3328416" cy="128016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2331720"/>
            <a:ext cx="2999232" cy="1005840"/>
          </a:xfrm>
          <a:prstGeom prst="rect">
            <a:avLst/>
          </a:prstGeom>
          <a:noFill/>
        </p:spPr>
        <p:txBody>
          <a:bodyPr wrap="square" lIns="0" tIns="0" rIns="0" bIns="0">
            <a:spAutoFit/>
          </a:bodyPr>
          <a:lstStyle/>
          <a:p>
            <a:pPr>
              <a:defRPr sz="1300" b="1">
                <a:solidFill>
                  <a:srgbClr val="1F2933"/>
                </a:solidFill>
                <a:latin typeface="Arial"/>
              </a:defRPr>
            </a:pPr>
            <a:r>
              <a:t>🌦 Raw Weather Numbers</a:t>
            </a:r>
          </a:p>
          <a:p>
            <a:pPr>
              <a:spcBef>
                <a:spcPts val="400"/>
              </a:spcBef>
              <a:defRPr sz="1100">
                <a:solidFill>
                  <a:srgbClr val="667085"/>
                </a:solidFill>
                <a:latin typeface="Arial"/>
              </a:defRPr>
            </a:pPr>
            <a:r>
              <a:t>Standard apps show rainfall % without agricultural foliar spray windows or irrigation guidance.</a:t>
            </a:r>
          </a:p>
        </p:txBody>
      </p:sp>
      <p:sp>
        <p:nvSpPr>
          <p:cNvPr id="12" name="Rounded Rectangle 11"/>
          <p:cNvSpPr/>
          <p:nvPr/>
        </p:nvSpPr>
        <p:spPr>
          <a:xfrm>
            <a:off x="731520" y="3657600"/>
            <a:ext cx="3328416" cy="128016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794760"/>
            <a:ext cx="2999232" cy="1005840"/>
          </a:xfrm>
          <a:prstGeom prst="rect">
            <a:avLst/>
          </a:prstGeom>
          <a:noFill/>
        </p:spPr>
        <p:txBody>
          <a:bodyPr wrap="square" lIns="0" tIns="0" rIns="0" bIns="0">
            <a:spAutoFit/>
          </a:bodyPr>
          <a:lstStyle/>
          <a:p>
            <a:pPr>
              <a:defRPr sz="1300" b="1">
                <a:solidFill>
                  <a:srgbClr val="1F2933"/>
                </a:solidFill>
                <a:latin typeface="Arial"/>
              </a:defRPr>
            </a:pPr>
            <a:r>
              <a:t>💰 Opaque Mandi Rates</a:t>
            </a:r>
          </a:p>
          <a:p>
            <a:pPr>
              <a:spcBef>
                <a:spcPts val="400"/>
              </a:spcBef>
              <a:defRPr sz="1100">
                <a:solidFill>
                  <a:srgbClr val="667085"/>
                </a:solidFill>
                <a:latin typeface="Arial"/>
              </a:defRPr>
            </a:pPr>
            <a:r>
              <a:t>Lack of nearby wholesale price comparisons forces smallholders to sell to middlemen at distress rates.</a:t>
            </a:r>
          </a:p>
        </p:txBody>
      </p:sp>
      <p:sp>
        <p:nvSpPr>
          <p:cNvPr id="14" name="Rounded Rectangle 13"/>
          <p:cNvSpPr/>
          <p:nvPr/>
        </p:nvSpPr>
        <p:spPr>
          <a:xfrm>
            <a:off x="4425696" y="3657600"/>
            <a:ext cx="3328416" cy="128016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3794760"/>
            <a:ext cx="2999232" cy="1005840"/>
          </a:xfrm>
          <a:prstGeom prst="rect">
            <a:avLst/>
          </a:prstGeom>
          <a:noFill/>
        </p:spPr>
        <p:txBody>
          <a:bodyPr wrap="square" lIns="0" tIns="0" rIns="0" bIns="0">
            <a:spAutoFit/>
          </a:bodyPr>
          <a:lstStyle/>
          <a:p>
            <a:pPr>
              <a:defRPr sz="1300" b="1">
                <a:solidFill>
                  <a:srgbClr val="1F2933"/>
                </a:solidFill>
                <a:latin typeface="Arial"/>
              </a:defRPr>
            </a:pPr>
            <a:r>
              <a:t>🏛️ Dispersed Govt Schemes</a:t>
            </a:r>
          </a:p>
          <a:p>
            <a:pPr>
              <a:spcBef>
                <a:spcPts val="400"/>
              </a:spcBef>
              <a:defRPr sz="1100">
                <a:solidFill>
                  <a:srgbClr val="667085"/>
                </a:solidFill>
                <a:latin typeface="Arial"/>
              </a:defRPr>
            </a:pPr>
            <a:r>
              <a:t>Valuable insurance (PMFBY) and credit subsidies remain unclaimed across scattered portals.</a:t>
            </a:r>
          </a:p>
        </p:txBody>
      </p:sp>
      <p:sp>
        <p:nvSpPr>
          <p:cNvPr id="16" name="Rounded Rectangle 15"/>
          <p:cNvSpPr/>
          <p:nvPr/>
        </p:nvSpPr>
        <p:spPr>
          <a:xfrm>
            <a:off x="8119872" y="3657600"/>
            <a:ext cx="3328416" cy="128016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4464" y="3794760"/>
            <a:ext cx="2999232" cy="1005840"/>
          </a:xfrm>
          <a:prstGeom prst="rect">
            <a:avLst/>
          </a:prstGeom>
          <a:noFill/>
        </p:spPr>
        <p:txBody>
          <a:bodyPr wrap="square" lIns="0" tIns="0" rIns="0" bIns="0">
            <a:spAutoFit/>
          </a:bodyPr>
          <a:lstStyle/>
          <a:p>
            <a:pPr>
              <a:defRPr sz="1300" b="1">
                <a:solidFill>
                  <a:srgbClr val="1F2933"/>
                </a:solidFill>
                <a:latin typeface="Arial"/>
              </a:defRPr>
            </a:pPr>
            <a:r>
              <a:t>🌐 Language Barriers</a:t>
            </a:r>
          </a:p>
          <a:p>
            <a:pPr>
              <a:spcBef>
                <a:spcPts val="400"/>
              </a:spcBef>
              <a:defRPr sz="1100">
                <a:solidFill>
                  <a:srgbClr val="667085"/>
                </a:solidFill>
                <a:latin typeface="Arial"/>
              </a:defRPr>
            </a:pPr>
            <a:r>
              <a:t>Technical apps and portals alienate millions of vernacular farmers across regional states.</a:t>
            </a:r>
          </a:p>
        </p:txBody>
      </p:sp>
      <p:sp>
        <p:nvSpPr>
          <p:cNvPr id="18" name="Rounded Rectangle 17"/>
          <p:cNvSpPr/>
          <p:nvPr/>
        </p:nvSpPr>
        <p:spPr>
          <a:xfrm>
            <a:off x="731520" y="5120640"/>
            <a:ext cx="10728655" cy="1005840"/>
          </a:xfrm>
          <a:prstGeom prst="roundRect">
            <a:avLst/>
          </a:prstGeom>
          <a:solidFill>
            <a:srgbClr val="FEFDF6"/>
          </a:solidFill>
          <a:ln w="19050">
            <a:solidFill>
              <a:srgbClr val="F4D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257800"/>
            <a:ext cx="10399471" cy="731520"/>
          </a:xfrm>
          <a:prstGeom prst="rect">
            <a:avLst/>
          </a:prstGeom>
          <a:noFill/>
        </p:spPr>
        <p:txBody>
          <a:bodyPr wrap="square" lIns="0" tIns="0" rIns="0" bIns="0">
            <a:spAutoFit/>
          </a:bodyPr>
          <a:lstStyle/>
          <a:p>
            <a:pPr>
              <a:defRPr sz="1300" b="1">
                <a:solidFill>
                  <a:srgbClr val="1F2933"/>
                </a:solidFill>
                <a:latin typeface="Arial"/>
              </a:defRPr>
            </a:pPr>
            <a:r>
              <a:t>⚠️ Core Takeaway</a:t>
            </a:r>
          </a:p>
          <a:p>
            <a:pPr>
              <a:spcBef>
                <a:spcPts val="400"/>
              </a:spcBef>
              <a:defRPr sz="1100">
                <a:solidFill>
                  <a:srgbClr val="667085"/>
                </a:solidFill>
                <a:latin typeface="Arial"/>
              </a:defRPr>
            </a:pPr>
            <a:r>
              <a:t>Fragmented Information ➔ Difficult Decisions ➔ Delayed / Costly Action.</a:t>
            </a:r>
            <a:br/>
            <a:r>
              <a:t>“The challenge isn't access to information. It's turning scattered information into one clear farming decision.”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548640"/>
          </a:xfrm>
          <a:prstGeom prst="rect">
            <a:avLst/>
          </a:prstGeom>
          <a:noFill/>
        </p:spPr>
        <p:txBody>
          <a:bodyPr wrap="square" lIns="0" tIns="0" rIns="0" bIns="0">
            <a:spAutoFit/>
          </a:bodyPr>
          <a:lstStyle/>
          <a:p>
            <a:pPr>
              <a:defRPr sz="1400" b="1">
                <a:solidFill>
                  <a:srgbClr val="587A4C"/>
                </a:solidFill>
                <a:latin typeface="Arial"/>
              </a:defRPr>
            </a:pPr>
            <a:r>
              <a:t>🌾 KisanMitra  |  </a:t>
            </a:r>
            <a:r>
              <a:rPr sz="1300" b="0">
                <a:solidFill>
                  <a:srgbClr val="667085"/>
                </a:solidFill>
              </a:rPr>
              <a:t>HACKDAY 1.0 — Tech for a Better Tomorrow</a:t>
            </a:r>
          </a:p>
        </p:txBody>
      </p:sp>
      <p:sp>
        <p:nvSpPr>
          <p:cNvPr id="4" name="TextBox 3"/>
          <p:cNvSpPr txBox="1"/>
          <p:nvPr/>
        </p:nvSpPr>
        <p:spPr>
          <a:xfrm>
            <a:off x="9601200" y="365760"/>
            <a:ext cx="1828800" cy="548640"/>
          </a:xfrm>
          <a:prstGeom prst="rect">
            <a:avLst/>
          </a:prstGeom>
          <a:noFill/>
        </p:spPr>
        <p:txBody>
          <a:bodyPr wrap="none">
            <a:spAutoFit/>
          </a:bodyPr>
          <a:lstStyle/>
          <a:p>
            <a:pPr algn="r">
              <a:defRPr sz="1200" b="1">
                <a:solidFill>
                  <a:srgbClr val="667085"/>
                </a:solidFill>
              </a:defRPr>
            </a:pPr>
            <a:r>
              <a:t>Slide 2 of 7</a:t>
            </a:r>
          </a:p>
        </p:txBody>
      </p:sp>
      <p:sp>
        <p:nvSpPr>
          <p:cNvPr id="5" name="TextBox 4"/>
          <p:cNvSpPr txBox="1"/>
          <p:nvPr/>
        </p:nvSpPr>
        <p:spPr>
          <a:xfrm>
            <a:off x="731520" y="1005840"/>
            <a:ext cx="10728655" cy="1097280"/>
          </a:xfrm>
          <a:prstGeom prst="rect">
            <a:avLst/>
          </a:prstGeom>
          <a:noFill/>
        </p:spPr>
        <p:txBody>
          <a:bodyPr wrap="square">
            <a:spAutoFit/>
          </a:bodyPr>
          <a:lstStyle/>
          <a:p>
            <a:pPr>
              <a:defRPr sz="2200" b="1">
                <a:solidFill>
                  <a:srgbClr val="1F2933"/>
                </a:solidFill>
              </a:defRPr>
            </a:pPr>
            <a:r>
              <a:t>KisanMitra — Smarter Decisions. Healthier Farms.</a:t>
            </a:r>
          </a:p>
          <a:p>
            <a:pPr>
              <a:spcBef>
                <a:spcPts val="400"/>
              </a:spcBef>
              <a:defRPr sz="1300" b="1">
                <a:solidFill>
                  <a:srgbClr val="587A4C"/>
                </a:solidFill>
              </a:defRPr>
            </a:pPr>
            <a:r>
              <a:t>One unified platform connecting the information behind everyday farming decisions.</a:t>
            </a:r>
          </a:p>
        </p:txBody>
      </p:sp>
      <p:sp>
        <p:nvSpPr>
          <p:cNvPr id="6" name="Rounded Rectangle 5"/>
          <p:cNvSpPr/>
          <p:nvPr/>
        </p:nvSpPr>
        <p:spPr>
          <a:xfrm>
            <a:off x="731520" y="2194560"/>
            <a:ext cx="2514600" cy="146304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331720"/>
            <a:ext cx="2185416" cy="1188720"/>
          </a:xfrm>
          <a:prstGeom prst="rect">
            <a:avLst/>
          </a:prstGeom>
          <a:noFill/>
        </p:spPr>
        <p:txBody>
          <a:bodyPr wrap="square" lIns="0" tIns="0" rIns="0" bIns="0">
            <a:spAutoFit/>
          </a:bodyPr>
          <a:lstStyle/>
          <a:p>
            <a:pPr>
              <a:defRPr sz="1300" b="1">
                <a:solidFill>
                  <a:srgbClr val="1F2933"/>
                </a:solidFill>
                <a:latin typeface="Arial"/>
              </a:defRPr>
            </a:pPr>
            <a:r>
              <a:t>🌿 AI Crop Doctor</a:t>
            </a:r>
          </a:p>
          <a:p>
            <a:pPr>
              <a:spcBef>
                <a:spcPts val="400"/>
              </a:spcBef>
              <a:defRPr sz="1100">
                <a:solidFill>
                  <a:srgbClr val="667085"/>
                </a:solidFill>
                <a:latin typeface="Arial"/>
              </a:defRPr>
            </a:pPr>
            <a:r>
              <a:t>Gemini 1.5 Flash Vision instant leaf disease diagnosis with safe cultural remedies.</a:t>
            </a:r>
          </a:p>
        </p:txBody>
      </p:sp>
      <p:sp>
        <p:nvSpPr>
          <p:cNvPr id="8" name="Rounded Rectangle 7"/>
          <p:cNvSpPr/>
          <p:nvPr/>
        </p:nvSpPr>
        <p:spPr>
          <a:xfrm>
            <a:off x="3456432" y="2194560"/>
            <a:ext cx="2514600" cy="146304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1024" y="2331720"/>
            <a:ext cx="2185416" cy="1188720"/>
          </a:xfrm>
          <a:prstGeom prst="rect">
            <a:avLst/>
          </a:prstGeom>
          <a:noFill/>
        </p:spPr>
        <p:txBody>
          <a:bodyPr wrap="square" lIns="0" tIns="0" rIns="0" bIns="0">
            <a:spAutoFit/>
          </a:bodyPr>
          <a:lstStyle/>
          <a:p>
            <a:pPr>
              <a:defRPr sz="1300" b="1">
                <a:solidFill>
                  <a:srgbClr val="1F2933"/>
                </a:solidFill>
                <a:latin typeface="Arial"/>
              </a:defRPr>
            </a:pPr>
            <a:r>
              <a:t>🧪 Soil Health Engine</a:t>
            </a:r>
          </a:p>
          <a:p>
            <a:pPr>
              <a:spcBef>
                <a:spcPts val="400"/>
              </a:spcBef>
              <a:defRPr sz="1100">
                <a:solidFill>
                  <a:srgbClr val="667085"/>
                </a:solidFill>
                <a:latin typeface="Arial"/>
              </a:defRPr>
            </a:pPr>
            <a:r>
              <a:t>Deterministic ICAR benchmark scoring (0-100) &amp; split fertilizer advisories.</a:t>
            </a:r>
          </a:p>
        </p:txBody>
      </p:sp>
      <p:sp>
        <p:nvSpPr>
          <p:cNvPr id="10" name="Rounded Rectangle 9"/>
          <p:cNvSpPr/>
          <p:nvPr/>
        </p:nvSpPr>
        <p:spPr>
          <a:xfrm>
            <a:off x="6181344" y="2194560"/>
            <a:ext cx="2514600" cy="146304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5936" y="2331720"/>
            <a:ext cx="2185416" cy="1188720"/>
          </a:xfrm>
          <a:prstGeom prst="rect">
            <a:avLst/>
          </a:prstGeom>
          <a:noFill/>
        </p:spPr>
        <p:txBody>
          <a:bodyPr wrap="square" lIns="0" tIns="0" rIns="0" bIns="0">
            <a:spAutoFit/>
          </a:bodyPr>
          <a:lstStyle/>
          <a:p>
            <a:pPr>
              <a:defRPr sz="1300" b="1">
                <a:solidFill>
                  <a:srgbClr val="1F2933"/>
                </a:solidFill>
                <a:latin typeface="Arial"/>
              </a:defRPr>
            </a:pPr>
            <a:r>
              <a:t>🌦 Weather Intelligence</a:t>
            </a:r>
          </a:p>
          <a:p>
            <a:pPr>
              <a:spcBef>
                <a:spcPts val="400"/>
              </a:spcBef>
              <a:defRPr sz="1100">
                <a:solidFill>
                  <a:srgbClr val="667085"/>
                </a:solidFill>
                <a:latin typeface="Arial"/>
              </a:defRPr>
            </a:pPr>
            <a:r>
              <a:t>Open-Meteo hyperlocal forecasts &amp; foliar spray window suitability index.</a:t>
            </a:r>
          </a:p>
        </p:txBody>
      </p:sp>
      <p:sp>
        <p:nvSpPr>
          <p:cNvPr id="12" name="Rounded Rectangle 11"/>
          <p:cNvSpPr/>
          <p:nvPr/>
        </p:nvSpPr>
        <p:spPr>
          <a:xfrm>
            <a:off x="8906256" y="2194560"/>
            <a:ext cx="2514600" cy="146304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2331720"/>
            <a:ext cx="2185416" cy="1188720"/>
          </a:xfrm>
          <a:prstGeom prst="rect">
            <a:avLst/>
          </a:prstGeom>
          <a:noFill/>
        </p:spPr>
        <p:txBody>
          <a:bodyPr wrap="square" lIns="0" tIns="0" rIns="0" bIns="0">
            <a:spAutoFit/>
          </a:bodyPr>
          <a:lstStyle/>
          <a:p>
            <a:pPr>
              <a:defRPr sz="1300" b="1">
                <a:solidFill>
                  <a:srgbClr val="1F2933"/>
                </a:solidFill>
                <a:latin typeface="Arial"/>
              </a:defRPr>
            </a:pPr>
            <a:r>
              <a:t>💰 Mandi Price Discovery</a:t>
            </a:r>
          </a:p>
          <a:p>
            <a:pPr>
              <a:spcBef>
                <a:spcPts val="400"/>
              </a:spcBef>
              <a:defRPr sz="1100">
                <a:solidFill>
                  <a:srgbClr val="667085"/>
                </a:solidFill>
                <a:latin typeface="Arial"/>
              </a:defRPr>
            </a:pPr>
            <a:r>
              <a:t>Official APMC wholesale arrival rates from data.gov.in (Zero fake prices).</a:t>
            </a:r>
          </a:p>
        </p:txBody>
      </p:sp>
      <p:sp>
        <p:nvSpPr>
          <p:cNvPr id="14" name="Rounded Rectangle 13"/>
          <p:cNvSpPr/>
          <p:nvPr/>
        </p:nvSpPr>
        <p:spPr>
          <a:xfrm>
            <a:off x="731520" y="3840480"/>
            <a:ext cx="2514600" cy="128016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77640"/>
            <a:ext cx="2185416" cy="1005840"/>
          </a:xfrm>
          <a:prstGeom prst="rect">
            <a:avLst/>
          </a:prstGeom>
          <a:noFill/>
        </p:spPr>
        <p:txBody>
          <a:bodyPr wrap="square" lIns="0" tIns="0" rIns="0" bIns="0">
            <a:spAutoFit/>
          </a:bodyPr>
          <a:lstStyle/>
          <a:p>
            <a:pPr>
              <a:defRPr sz="1300" b="1">
                <a:solidFill>
                  <a:srgbClr val="1F2933"/>
                </a:solidFill>
                <a:latin typeface="Arial"/>
              </a:defRPr>
            </a:pPr>
            <a:r>
              <a:t>🏛️ Govt Schemes</a:t>
            </a:r>
          </a:p>
          <a:p>
            <a:pPr>
              <a:spcBef>
                <a:spcPts val="400"/>
              </a:spcBef>
              <a:defRPr sz="1100">
                <a:solidFill>
                  <a:srgbClr val="667085"/>
                </a:solidFill>
                <a:latin typeface="Arial"/>
              </a:defRPr>
            </a:pPr>
            <a:r>
              <a:t>Curated subsidies, PMFBY insurance, &amp; direct application links.</a:t>
            </a:r>
          </a:p>
        </p:txBody>
      </p:sp>
      <p:sp>
        <p:nvSpPr>
          <p:cNvPr id="16" name="Rounded Rectangle 15"/>
          <p:cNvSpPr/>
          <p:nvPr/>
        </p:nvSpPr>
        <p:spPr>
          <a:xfrm>
            <a:off x="3456432" y="3840480"/>
            <a:ext cx="2514600" cy="128016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1024" y="3977640"/>
            <a:ext cx="2185416" cy="1005840"/>
          </a:xfrm>
          <a:prstGeom prst="rect">
            <a:avLst/>
          </a:prstGeom>
          <a:noFill/>
        </p:spPr>
        <p:txBody>
          <a:bodyPr wrap="square" lIns="0" tIns="0" rIns="0" bIns="0">
            <a:spAutoFit/>
          </a:bodyPr>
          <a:lstStyle/>
          <a:p>
            <a:pPr>
              <a:defRPr sz="1300" b="1">
                <a:solidFill>
                  <a:srgbClr val="1F2933"/>
                </a:solidFill>
                <a:latin typeface="Arial"/>
              </a:defRPr>
            </a:pPr>
            <a:r>
              <a:t>🌾 Crop Agronomy Guide</a:t>
            </a:r>
          </a:p>
          <a:p>
            <a:pPr>
              <a:spcBef>
                <a:spcPts val="400"/>
              </a:spcBef>
              <a:defRPr sz="1100">
                <a:solidFill>
                  <a:srgbClr val="667085"/>
                </a:solidFill>
                <a:latin typeface="Arial"/>
              </a:defRPr>
            </a:pPr>
            <a:r>
              <a:t>ICAR crop calendars, sowing windows &amp; nutrition timing.</a:t>
            </a:r>
          </a:p>
        </p:txBody>
      </p:sp>
      <p:sp>
        <p:nvSpPr>
          <p:cNvPr id="18" name="Rounded Rectangle 17"/>
          <p:cNvSpPr/>
          <p:nvPr/>
        </p:nvSpPr>
        <p:spPr>
          <a:xfrm>
            <a:off x="6181344" y="3840480"/>
            <a:ext cx="5239512" cy="128016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3977640"/>
            <a:ext cx="4910328" cy="1005840"/>
          </a:xfrm>
          <a:prstGeom prst="rect">
            <a:avLst/>
          </a:prstGeom>
          <a:noFill/>
        </p:spPr>
        <p:txBody>
          <a:bodyPr wrap="square" lIns="0" tIns="0" rIns="0" bIns="0">
            <a:spAutoFit/>
          </a:bodyPr>
          <a:lstStyle/>
          <a:p>
            <a:pPr>
              <a:defRPr sz="1300" b="1">
                <a:solidFill>
                  <a:srgbClr val="1F2933"/>
                </a:solidFill>
                <a:latin typeface="Arial"/>
              </a:defRPr>
            </a:pPr>
            <a:r>
              <a:t>🌐 Native Multilingual Experience</a:t>
            </a:r>
          </a:p>
          <a:p>
            <a:pPr>
              <a:spcBef>
                <a:spcPts val="400"/>
              </a:spcBef>
              <a:defRPr sz="1100">
                <a:solidFill>
                  <a:srgbClr val="667085"/>
                </a:solidFill>
                <a:latin typeface="Arial"/>
              </a:defRPr>
            </a:pPr>
            <a:r>
              <a:t>100% key parity across English, Marathi (मराठी), Hindi (हिन्दी), Tamil (தமிழ்), Telugu (తెలుగు).</a:t>
            </a:r>
          </a:p>
        </p:txBody>
      </p:sp>
      <p:sp>
        <p:nvSpPr>
          <p:cNvPr id="20" name="Rounded Rectangle 19"/>
          <p:cNvSpPr/>
          <p:nvPr/>
        </p:nvSpPr>
        <p:spPr>
          <a:xfrm>
            <a:off x="731520" y="5303520"/>
            <a:ext cx="10728655" cy="822960"/>
          </a:xfrm>
          <a:prstGeom prst="roundRect">
            <a:avLst/>
          </a:prstGeom>
          <a:solidFill>
            <a:srgbClr val="F3F7F1"/>
          </a:solidFill>
          <a:ln w="19050">
            <a:solidFill>
              <a:srgbClr val="587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440680"/>
            <a:ext cx="10399471" cy="548640"/>
          </a:xfrm>
          <a:prstGeom prst="rect">
            <a:avLst/>
          </a:prstGeom>
          <a:noFill/>
        </p:spPr>
        <p:txBody>
          <a:bodyPr wrap="square" lIns="0" tIns="0" rIns="0" bIns="0">
            <a:spAutoFit/>
          </a:bodyPr>
          <a:lstStyle/>
          <a:p>
            <a:pPr>
              <a:defRPr sz="1300" b="1">
                <a:solidFill>
                  <a:srgbClr val="1F2933"/>
                </a:solidFill>
                <a:latin typeface="Arial"/>
              </a:defRPr>
            </a:pPr>
            <a:r>
              <a:t>🤖 Context-Aware Conversational AI Hero</a:t>
            </a:r>
          </a:p>
          <a:p>
            <a:pPr>
              <a:spcBef>
                <a:spcPts val="400"/>
              </a:spcBef>
              <a:defRPr sz="1100">
                <a:solidFill>
                  <a:srgbClr val="667085"/>
                </a:solidFill>
                <a:latin typeface="Arial"/>
              </a:defRPr>
            </a:pPr>
            <a:r>
              <a:t>Reasons over all active farm parameters (Weather, Soil, Diagnosis, Mandi) into grounded, actionable farmer advice.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548640"/>
          </a:xfrm>
          <a:prstGeom prst="rect">
            <a:avLst/>
          </a:prstGeom>
          <a:noFill/>
        </p:spPr>
        <p:txBody>
          <a:bodyPr wrap="square" lIns="0" tIns="0" rIns="0" bIns="0">
            <a:spAutoFit/>
          </a:bodyPr>
          <a:lstStyle/>
          <a:p>
            <a:pPr>
              <a:defRPr sz="1400" b="1">
                <a:solidFill>
                  <a:srgbClr val="587A4C"/>
                </a:solidFill>
                <a:latin typeface="Arial"/>
              </a:defRPr>
            </a:pPr>
            <a:r>
              <a:t>🌾 KisanMitra  |  </a:t>
            </a:r>
            <a:r>
              <a:rPr sz="1300" b="0">
                <a:solidFill>
                  <a:srgbClr val="667085"/>
                </a:solidFill>
              </a:rPr>
              <a:t>HACKDAY 1.0 — Tech for a Better Tomorrow</a:t>
            </a:r>
          </a:p>
        </p:txBody>
      </p:sp>
      <p:sp>
        <p:nvSpPr>
          <p:cNvPr id="4" name="TextBox 3"/>
          <p:cNvSpPr txBox="1"/>
          <p:nvPr/>
        </p:nvSpPr>
        <p:spPr>
          <a:xfrm>
            <a:off x="9601200" y="365760"/>
            <a:ext cx="1828800" cy="548640"/>
          </a:xfrm>
          <a:prstGeom prst="rect">
            <a:avLst/>
          </a:prstGeom>
          <a:noFill/>
        </p:spPr>
        <p:txBody>
          <a:bodyPr wrap="none">
            <a:spAutoFit/>
          </a:bodyPr>
          <a:lstStyle/>
          <a:p>
            <a:pPr algn="r">
              <a:defRPr sz="1200" b="1">
                <a:solidFill>
                  <a:srgbClr val="667085"/>
                </a:solidFill>
              </a:defRPr>
            </a:pPr>
            <a:r>
              <a:t>Slide 3 of 7</a:t>
            </a:r>
          </a:p>
        </p:txBody>
      </p:sp>
      <p:sp>
        <p:nvSpPr>
          <p:cNvPr id="5" name="TextBox 4"/>
          <p:cNvSpPr txBox="1"/>
          <p:nvPr/>
        </p:nvSpPr>
        <p:spPr>
          <a:xfrm>
            <a:off x="731520" y="1005840"/>
            <a:ext cx="10728655" cy="1097280"/>
          </a:xfrm>
          <a:prstGeom prst="rect">
            <a:avLst/>
          </a:prstGeom>
          <a:noFill/>
        </p:spPr>
        <p:txBody>
          <a:bodyPr wrap="square">
            <a:spAutoFit/>
          </a:bodyPr>
          <a:lstStyle/>
          <a:p>
            <a:pPr>
              <a:defRPr sz="2200" b="1">
                <a:solidFill>
                  <a:srgbClr val="1F2933"/>
                </a:solidFill>
              </a:defRPr>
            </a:pPr>
            <a:r>
              <a:t>Who We Build For</a:t>
            </a:r>
          </a:p>
          <a:p>
            <a:pPr>
              <a:spcBef>
                <a:spcPts val="400"/>
              </a:spcBef>
              <a:defRPr sz="1300" b="1">
                <a:solidFill>
                  <a:srgbClr val="587A4C"/>
                </a:solidFill>
              </a:defRPr>
            </a:pPr>
            <a:r>
              <a:t>Empowering Smallholder Farmers &amp; the Agricultural Support Ecosystem</a:t>
            </a:r>
          </a:p>
        </p:txBody>
      </p:sp>
      <p:sp>
        <p:nvSpPr>
          <p:cNvPr id="6" name="Rounded Rectangle 5"/>
          <p:cNvSpPr/>
          <p:nvPr/>
        </p:nvSpPr>
        <p:spPr>
          <a:xfrm>
            <a:off x="731520" y="2194560"/>
            <a:ext cx="3328416" cy="2926080"/>
          </a:xfrm>
          <a:prstGeom prst="roundRect">
            <a:avLst/>
          </a:prstGeom>
          <a:solidFill>
            <a:srgbClr val="F4FAF0"/>
          </a:solidFill>
          <a:ln w="19050">
            <a:solidFill>
              <a:srgbClr val="587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331720"/>
            <a:ext cx="2999232" cy="2651760"/>
          </a:xfrm>
          <a:prstGeom prst="rect">
            <a:avLst/>
          </a:prstGeom>
          <a:noFill/>
        </p:spPr>
        <p:txBody>
          <a:bodyPr wrap="square" lIns="0" tIns="0" rIns="0" bIns="0">
            <a:spAutoFit/>
          </a:bodyPr>
          <a:lstStyle/>
          <a:p>
            <a:pPr>
              <a:defRPr sz="1300" b="1">
                <a:solidFill>
                  <a:srgbClr val="1F2933"/>
                </a:solidFill>
                <a:latin typeface="Arial"/>
              </a:defRPr>
            </a:pPr>
            <a:r>
              <a:t>👨‍🌾 1. PRIMARY: Individual Farmers</a:t>
            </a:r>
          </a:p>
          <a:p>
            <a:pPr>
              <a:spcBef>
                <a:spcPts val="400"/>
              </a:spcBef>
              <a:defRPr sz="1100">
                <a:solidFill>
                  <a:srgbClr val="667085"/>
                </a:solidFill>
                <a:latin typeface="Arial"/>
              </a:defRPr>
            </a:pPr>
            <a:r>
              <a:t>• Smallholder &amp; marginal farmers managing 1-5 acres.</a:t>
            </a:r>
            <a:br/>
            <a:r>
              <a:t>• Require immediate, jargon-free field guidance.</a:t>
            </a:r>
            <a:br/>
            <a:r>
              <a:t>• Need native regional language interaction.</a:t>
            </a:r>
            <a:br/>
            <a:r>
              <a:t>• Benefit from unified diagnosis, weather, &amp; price discovery in one tap.</a:t>
            </a:r>
          </a:p>
        </p:txBody>
      </p:sp>
      <p:sp>
        <p:nvSpPr>
          <p:cNvPr id="8" name="Rounded Rectangle 7"/>
          <p:cNvSpPr/>
          <p:nvPr/>
        </p:nvSpPr>
        <p:spPr>
          <a:xfrm>
            <a:off x="4425696" y="2194560"/>
            <a:ext cx="3328416" cy="292608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2331720"/>
            <a:ext cx="2999232" cy="2651760"/>
          </a:xfrm>
          <a:prstGeom prst="rect">
            <a:avLst/>
          </a:prstGeom>
          <a:noFill/>
        </p:spPr>
        <p:txBody>
          <a:bodyPr wrap="square" lIns="0" tIns="0" rIns="0" bIns="0">
            <a:spAutoFit/>
          </a:bodyPr>
          <a:lstStyle/>
          <a:p>
            <a:pPr>
              <a:defRPr sz="1300" b="1">
                <a:solidFill>
                  <a:srgbClr val="1F2933"/>
                </a:solidFill>
                <a:latin typeface="Arial"/>
              </a:defRPr>
            </a:pPr>
            <a:r>
              <a:t>🌾 2. SECONDARY: FPOs &amp; Cooperatives</a:t>
            </a:r>
          </a:p>
          <a:p>
            <a:pPr>
              <a:spcBef>
                <a:spcPts val="400"/>
              </a:spcBef>
              <a:defRPr sz="1100">
                <a:solidFill>
                  <a:srgbClr val="667085"/>
                </a:solidFill>
                <a:latin typeface="Arial"/>
              </a:defRPr>
            </a:pPr>
            <a:r>
              <a:t>• Farmer Producer Organizations supporting 500+ member farmers.</a:t>
            </a:r>
            <a:br/>
            <a:r>
              <a:t>• Require aggregated cluster-level agronomic intelligence.</a:t>
            </a:r>
            <a:br/>
            <a:r>
              <a:t>• Benefit from multi-market APMC wholesale price comparisons for bulk harvest bargaining.</a:t>
            </a:r>
          </a:p>
        </p:txBody>
      </p:sp>
      <p:sp>
        <p:nvSpPr>
          <p:cNvPr id="10" name="Rounded Rectangle 9"/>
          <p:cNvSpPr/>
          <p:nvPr/>
        </p:nvSpPr>
        <p:spPr>
          <a:xfrm>
            <a:off x="8119872" y="2194560"/>
            <a:ext cx="3328416" cy="292608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2331720"/>
            <a:ext cx="2999232" cy="2651760"/>
          </a:xfrm>
          <a:prstGeom prst="rect">
            <a:avLst/>
          </a:prstGeom>
          <a:noFill/>
        </p:spPr>
        <p:txBody>
          <a:bodyPr wrap="square" lIns="0" tIns="0" rIns="0" bIns="0">
            <a:spAutoFit/>
          </a:bodyPr>
          <a:lstStyle/>
          <a:p>
            <a:pPr>
              <a:defRPr sz="1300" b="1">
                <a:solidFill>
                  <a:srgbClr val="1F2933"/>
                </a:solidFill>
                <a:latin typeface="Arial"/>
              </a:defRPr>
            </a:pPr>
            <a:r>
              <a:t>🏛️ 3. ECOSYSTEM: Institutions &amp; Agri-Techs</a:t>
            </a:r>
          </a:p>
          <a:p>
            <a:pPr>
              <a:spcBef>
                <a:spcPts val="400"/>
              </a:spcBef>
              <a:defRPr sz="1100">
                <a:solidFill>
                  <a:srgbClr val="667085"/>
                </a:solidFill>
                <a:latin typeface="Arial"/>
              </a:defRPr>
            </a:pPr>
            <a:r>
              <a:t>• Agricultural universities, KVK extension programs, &amp; NGOs.</a:t>
            </a:r>
            <a:br/>
            <a:r>
              <a:t>• Utilize the platform's verified intelligence pipeline.</a:t>
            </a:r>
            <a:br/>
            <a:r>
              <a:t>• Facilitate targeted government subsidy distribution &amp; sustainable farming initiatives.</a:t>
            </a:r>
          </a:p>
        </p:txBody>
      </p:sp>
      <p:sp>
        <p:nvSpPr>
          <p:cNvPr id="12" name="Rounded Rectangle 11"/>
          <p:cNvSpPr/>
          <p:nvPr/>
        </p:nvSpPr>
        <p:spPr>
          <a:xfrm>
            <a:off x="731520" y="5303520"/>
            <a:ext cx="10728655" cy="822960"/>
          </a:xfrm>
          <a:prstGeom prst="roundRect">
            <a:avLst/>
          </a:prstGeom>
          <a:solidFill>
            <a:srgbClr val="FEFDF6"/>
          </a:solidFill>
          <a:ln w="19050">
            <a:solidFill>
              <a:srgbClr val="F4D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5440680"/>
            <a:ext cx="10399471" cy="548640"/>
          </a:xfrm>
          <a:prstGeom prst="rect">
            <a:avLst/>
          </a:prstGeom>
          <a:noFill/>
        </p:spPr>
        <p:txBody>
          <a:bodyPr wrap="square" lIns="0" tIns="0" rIns="0" bIns="0">
            <a:spAutoFit/>
          </a:bodyPr>
          <a:lstStyle/>
          <a:p>
            <a:pPr>
              <a:defRPr sz="1300" b="1">
                <a:solidFill>
                  <a:srgbClr val="1F2933"/>
                </a:solidFill>
                <a:latin typeface="Arial"/>
              </a:defRPr>
            </a:pPr>
            <a:r>
              <a:t>🎯 Farmer-First Inclusivity</a:t>
            </a:r>
          </a:p>
          <a:p>
            <a:pPr>
              <a:spcBef>
                <a:spcPts val="400"/>
              </a:spcBef>
              <a:defRPr sz="1100">
                <a:solidFill>
                  <a:srgbClr val="667085"/>
                </a:solidFill>
                <a:latin typeface="Arial"/>
              </a:defRPr>
            </a:pPr>
            <a:r>
              <a:t>100% translation key parity across English, Marathi, Hindi, Tamil, and Telugu without application or literacy barriers.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548640"/>
          </a:xfrm>
          <a:prstGeom prst="rect">
            <a:avLst/>
          </a:prstGeom>
          <a:noFill/>
        </p:spPr>
        <p:txBody>
          <a:bodyPr wrap="square" lIns="0" tIns="0" rIns="0" bIns="0">
            <a:spAutoFit/>
          </a:bodyPr>
          <a:lstStyle/>
          <a:p>
            <a:pPr>
              <a:defRPr sz="1400" b="1">
                <a:solidFill>
                  <a:srgbClr val="587A4C"/>
                </a:solidFill>
                <a:latin typeface="Arial"/>
              </a:defRPr>
            </a:pPr>
            <a:r>
              <a:t>🌾 KisanMitra  |  </a:t>
            </a:r>
            <a:r>
              <a:rPr sz="1300" b="0">
                <a:solidFill>
                  <a:srgbClr val="667085"/>
                </a:solidFill>
              </a:rPr>
              <a:t>HACKDAY 1.0 — Tech for a Better Tomorrow</a:t>
            </a:r>
          </a:p>
        </p:txBody>
      </p:sp>
      <p:sp>
        <p:nvSpPr>
          <p:cNvPr id="4" name="TextBox 3"/>
          <p:cNvSpPr txBox="1"/>
          <p:nvPr/>
        </p:nvSpPr>
        <p:spPr>
          <a:xfrm>
            <a:off x="9601200" y="365760"/>
            <a:ext cx="1828800" cy="548640"/>
          </a:xfrm>
          <a:prstGeom prst="rect">
            <a:avLst/>
          </a:prstGeom>
          <a:noFill/>
        </p:spPr>
        <p:txBody>
          <a:bodyPr wrap="none">
            <a:spAutoFit/>
          </a:bodyPr>
          <a:lstStyle/>
          <a:p>
            <a:pPr algn="r">
              <a:defRPr sz="1200" b="1">
                <a:solidFill>
                  <a:srgbClr val="667085"/>
                </a:solidFill>
              </a:defRPr>
            </a:pPr>
            <a:r>
              <a:t>Slide 4 of 7</a:t>
            </a:r>
          </a:p>
        </p:txBody>
      </p:sp>
      <p:sp>
        <p:nvSpPr>
          <p:cNvPr id="5" name="TextBox 4"/>
          <p:cNvSpPr txBox="1"/>
          <p:nvPr/>
        </p:nvSpPr>
        <p:spPr>
          <a:xfrm>
            <a:off x="731520" y="1005840"/>
            <a:ext cx="10728655" cy="1097280"/>
          </a:xfrm>
          <a:prstGeom prst="rect">
            <a:avLst/>
          </a:prstGeom>
          <a:noFill/>
        </p:spPr>
        <p:txBody>
          <a:bodyPr wrap="square">
            <a:spAutoFit/>
          </a:bodyPr>
          <a:lstStyle/>
          <a:p>
            <a:pPr>
              <a:defRPr sz="2200" b="1">
                <a:solidFill>
                  <a:srgbClr val="1F2933"/>
                </a:solidFill>
              </a:defRPr>
            </a:pPr>
            <a:r>
              <a:t>How KisanMitra Works</a:t>
            </a:r>
          </a:p>
          <a:p>
            <a:pPr>
              <a:spcBef>
                <a:spcPts val="400"/>
              </a:spcBef>
              <a:defRPr sz="1300" b="1">
                <a:solidFill>
                  <a:srgbClr val="587A4C"/>
                </a:solidFill>
              </a:defRPr>
            </a:pPr>
            <a:r>
              <a:t>“AI is used where intelligence is needed; deterministic logic is used where reliability matters.”</a:t>
            </a:r>
          </a:p>
        </p:txBody>
      </p:sp>
      <p:sp>
        <p:nvSpPr>
          <p:cNvPr id="6" name="Rounded Rectangle 5"/>
          <p:cNvSpPr/>
          <p:nvPr/>
        </p:nvSpPr>
        <p:spPr>
          <a:xfrm>
            <a:off x="731520" y="2194560"/>
            <a:ext cx="3328416" cy="292608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331720"/>
            <a:ext cx="2999232" cy="2651760"/>
          </a:xfrm>
          <a:prstGeom prst="rect">
            <a:avLst/>
          </a:prstGeom>
          <a:noFill/>
        </p:spPr>
        <p:txBody>
          <a:bodyPr wrap="square" lIns="0" tIns="0" rIns="0" bIns="0">
            <a:spAutoFit/>
          </a:bodyPr>
          <a:lstStyle/>
          <a:p>
            <a:pPr>
              <a:defRPr sz="1300" b="1">
                <a:solidFill>
                  <a:srgbClr val="1F2933"/>
                </a:solidFill>
                <a:latin typeface="Arial"/>
              </a:defRPr>
            </a:pPr>
            <a:r>
              <a:t>🖥️ Frontend Architecture</a:t>
            </a:r>
          </a:p>
          <a:p>
            <a:pPr>
              <a:spcBef>
                <a:spcPts val="400"/>
              </a:spcBef>
              <a:defRPr sz="1100">
                <a:solidFill>
                  <a:srgbClr val="667085"/>
                </a:solidFill>
                <a:latin typeface="Arial"/>
              </a:defRPr>
            </a:pPr>
            <a:r>
              <a:t>• Next.js 14 App Router + TypeScript 5.6.</a:t>
            </a:r>
            <a:br/>
            <a:r>
              <a:t>• Tailwind CSS custom farm design tokens.</a:t>
            </a:r>
            <a:br/>
            <a:r>
              <a:t>• Client-side context harvest (localStorage).</a:t>
            </a:r>
            <a:br/>
            <a:r>
              <a:t>• Standalone i18n translation context engine (300/300 keys across 5 languages).</a:t>
            </a:r>
          </a:p>
        </p:txBody>
      </p:sp>
      <p:sp>
        <p:nvSpPr>
          <p:cNvPr id="8" name="Rounded Rectangle 7"/>
          <p:cNvSpPr/>
          <p:nvPr/>
        </p:nvSpPr>
        <p:spPr>
          <a:xfrm>
            <a:off x="4425696" y="2194560"/>
            <a:ext cx="3328416" cy="292608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2331720"/>
            <a:ext cx="2999232" cy="2651760"/>
          </a:xfrm>
          <a:prstGeom prst="rect">
            <a:avLst/>
          </a:prstGeom>
          <a:noFill/>
        </p:spPr>
        <p:txBody>
          <a:bodyPr wrap="square" lIns="0" tIns="0" rIns="0" bIns="0">
            <a:spAutoFit/>
          </a:bodyPr>
          <a:lstStyle/>
          <a:p>
            <a:pPr>
              <a:defRPr sz="1300" b="1">
                <a:solidFill>
                  <a:srgbClr val="1F2933"/>
                </a:solidFill>
                <a:latin typeface="Arial"/>
              </a:defRPr>
            </a:pPr>
            <a:r>
              <a:t>⚡ Backend Gateway Tier</a:t>
            </a:r>
          </a:p>
          <a:p>
            <a:pPr>
              <a:spcBef>
                <a:spcPts val="400"/>
              </a:spcBef>
              <a:defRPr sz="1100">
                <a:solidFill>
                  <a:srgbClr val="667085"/>
                </a:solidFill>
                <a:latin typeface="Arial"/>
              </a:defRPr>
            </a:pPr>
            <a:r>
              <a:t>• FastAPI (Python 3.11) async REST API.</a:t>
            </a:r>
            <a:br/>
            <a:r>
              <a:t>• Pydantic v2 strict schema validation.</a:t>
            </a:r>
            <a:br/>
            <a:r>
              <a:t>• Zero client secret exposure (all API keys backend-isolated).</a:t>
            </a:r>
            <a:br/>
            <a:r>
              <a:t>• Supabase / PostgreSQL schema-ready.</a:t>
            </a:r>
          </a:p>
        </p:txBody>
      </p:sp>
      <p:sp>
        <p:nvSpPr>
          <p:cNvPr id="10" name="Rounded Rectangle 9"/>
          <p:cNvSpPr/>
          <p:nvPr/>
        </p:nvSpPr>
        <p:spPr>
          <a:xfrm>
            <a:off x="8119872" y="2194560"/>
            <a:ext cx="3328416" cy="2926080"/>
          </a:xfrm>
          <a:prstGeom prst="roundRect">
            <a:avLst/>
          </a:prstGeom>
          <a:solidFill>
            <a:srgbClr val="F4FAF0"/>
          </a:solidFill>
          <a:ln w="19050">
            <a:solidFill>
              <a:srgbClr val="587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2331720"/>
            <a:ext cx="2999232" cy="2651760"/>
          </a:xfrm>
          <a:prstGeom prst="rect">
            <a:avLst/>
          </a:prstGeom>
          <a:noFill/>
        </p:spPr>
        <p:txBody>
          <a:bodyPr wrap="square" lIns="0" tIns="0" rIns="0" bIns="0">
            <a:spAutoFit/>
          </a:bodyPr>
          <a:lstStyle/>
          <a:p>
            <a:pPr>
              <a:defRPr sz="1300" b="1">
                <a:solidFill>
                  <a:srgbClr val="1F2933"/>
                </a:solidFill>
                <a:latin typeface="Arial"/>
              </a:defRPr>
            </a:pPr>
            <a:r>
              <a:t>🧠 Intelligence &amp; Hybrid RAG</a:t>
            </a:r>
          </a:p>
          <a:p>
            <a:pPr>
              <a:spcBef>
                <a:spcPts val="400"/>
              </a:spcBef>
              <a:defRPr sz="1100">
                <a:solidFill>
                  <a:srgbClr val="667085"/>
                </a:solidFill>
                <a:latin typeface="Arial"/>
              </a:defRPr>
            </a:pPr>
            <a:r>
              <a:t>• Google Gemini 1.5 Flash (Vision &amp; Chat).</a:t>
            </a:r>
            <a:br/>
            <a:r>
              <a:t>• Deterministic ICAR soil math models.</a:t>
            </a:r>
            <a:br/>
            <a:r>
              <a:t>• Open-Meteo &amp; data.gov.in AGMARKNET APIs.</a:t>
            </a:r>
            <a:br/>
            <a:r>
              <a:t>• Offline deterministic fallback generators.</a:t>
            </a:r>
          </a:p>
        </p:txBody>
      </p:sp>
      <p:sp>
        <p:nvSpPr>
          <p:cNvPr id="12" name="Rounded Rectangle 11"/>
          <p:cNvSpPr/>
          <p:nvPr/>
        </p:nvSpPr>
        <p:spPr>
          <a:xfrm>
            <a:off x="731520" y="5303520"/>
            <a:ext cx="10728655" cy="822960"/>
          </a:xfrm>
          <a:prstGeom prst="roundRect">
            <a:avLst/>
          </a:prstGeom>
          <a:solidFill>
            <a:srgbClr val="F7F5EC"/>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5440680"/>
            <a:ext cx="10399471" cy="548640"/>
          </a:xfrm>
          <a:prstGeom prst="rect">
            <a:avLst/>
          </a:prstGeom>
          <a:noFill/>
        </p:spPr>
        <p:txBody>
          <a:bodyPr wrap="square" lIns="0" tIns="0" rIns="0" bIns="0">
            <a:spAutoFit/>
          </a:bodyPr>
          <a:lstStyle/>
          <a:p>
            <a:pPr>
              <a:defRPr sz="1300" b="1">
                <a:solidFill>
                  <a:srgbClr val="1F2933"/>
                </a:solidFill>
                <a:latin typeface="Arial"/>
              </a:defRPr>
            </a:pPr>
            <a:r>
              <a:t>🛡️ Trust &amp; Safety Safeguards</a:t>
            </a:r>
          </a:p>
          <a:p>
            <a:pPr>
              <a:spcBef>
                <a:spcPts val="400"/>
              </a:spcBef>
              <a:defRPr sz="1100">
                <a:solidFill>
                  <a:srgbClr val="667085"/>
                </a:solidFill>
                <a:latin typeface="Arial"/>
              </a:defRPr>
            </a:pPr>
            <a:r>
              <a:t>Probabilistic disease phrasing (no 100% false certainty) • Prompt-injection defenses • Mandatory KVK advisory disclaimers.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548640"/>
          </a:xfrm>
          <a:prstGeom prst="rect">
            <a:avLst/>
          </a:prstGeom>
          <a:noFill/>
        </p:spPr>
        <p:txBody>
          <a:bodyPr wrap="square" lIns="0" tIns="0" rIns="0" bIns="0">
            <a:spAutoFit/>
          </a:bodyPr>
          <a:lstStyle/>
          <a:p>
            <a:pPr>
              <a:defRPr sz="1400" b="1">
                <a:solidFill>
                  <a:srgbClr val="587A4C"/>
                </a:solidFill>
                <a:latin typeface="Arial"/>
              </a:defRPr>
            </a:pPr>
            <a:r>
              <a:t>🌾 KisanMitra  |  </a:t>
            </a:r>
            <a:r>
              <a:rPr sz="1300" b="0">
                <a:solidFill>
                  <a:srgbClr val="667085"/>
                </a:solidFill>
              </a:rPr>
              <a:t>HACKDAY 1.0 — Tech for a Better Tomorrow</a:t>
            </a:r>
          </a:p>
        </p:txBody>
      </p:sp>
      <p:sp>
        <p:nvSpPr>
          <p:cNvPr id="4" name="TextBox 3"/>
          <p:cNvSpPr txBox="1"/>
          <p:nvPr/>
        </p:nvSpPr>
        <p:spPr>
          <a:xfrm>
            <a:off x="9601200" y="365760"/>
            <a:ext cx="1828800" cy="548640"/>
          </a:xfrm>
          <a:prstGeom prst="rect">
            <a:avLst/>
          </a:prstGeom>
          <a:noFill/>
        </p:spPr>
        <p:txBody>
          <a:bodyPr wrap="none">
            <a:spAutoFit/>
          </a:bodyPr>
          <a:lstStyle/>
          <a:p>
            <a:pPr algn="r">
              <a:defRPr sz="1200" b="1">
                <a:solidFill>
                  <a:srgbClr val="667085"/>
                </a:solidFill>
              </a:defRPr>
            </a:pPr>
            <a:r>
              <a:t>Slide 5 of 7</a:t>
            </a:r>
          </a:p>
        </p:txBody>
      </p:sp>
      <p:sp>
        <p:nvSpPr>
          <p:cNvPr id="5" name="TextBox 4"/>
          <p:cNvSpPr txBox="1"/>
          <p:nvPr/>
        </p:nvSpPr>
        <p:spPr>
          <a:xfrm>
            <a:off x="731520" y="1005840"/>
            <a:ext cx="10728655" cy="1097280"/>
          </a:xfrm>
          <a:prstGeom prst="rect">
            <a:avLst/>
          </a:prstGeom>
          <a:noFill/>
        </p:spPr>
        <p:txBody>
          <a:bodyPr wrap="square">
            <a:spAutoFit/>
          </a:bodyPr>
          <a:lstStyle/>
          <a:p>
            <a:pPr>
              <a:defRPr sz="2200" b="1">
                <a:solidFill>
                  <a:srgbClr val="1F2933"/>
                </a:solidFill>
              </a:defRPr>
            </a:pPr>
            <a:r>
              <a:t>From Farmer Utility to a Scalable Platform</a:t>
            </a:r>
          </a:p>
          <a:p>
            <a:pPr>
              <a:spcBef>
                <a:spcPts val="400"/>
              </a:spcBef>
              <a:defRPr sz="1300" b="1">
                <a:solidFill>
                  <a:srgbClr val="587A4C"/>
                </a:solidFill>
              </a:defRPr>
            </a:pPr>
            <a:r>
              <a:t>A Progressive Multi-Sided Agricultural Ecosystem Model</a:t>
            </a:r>
          </a:p>
        </p:txBody>
      </p:sp>
      <p:sp>
        <p:nvSpPr>
          <p:cNvPr id="6" name="Rounded Rectangle 5"/>
          <p:cNvSpPr/>
          <p:nvPr/>
        </p:nvSpPr>
        <p:spPr>
          <a:xfrm>
            <a:off x="731520" y="2194560"/>
            <a:ext cx="3328416" cy="292608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331720"/>
            <a:ext cx="2999232" cy="2651760"/>
          </a:xfrm>
          <a:prstGeom prst="rect">
            <a:avLst/>
          </a:prstGeom>
          <a:noFill/>
        </p:spPr>
        <p:txBody>
          <a:bodyPr wrap="square" lIns="0" tIns="0" rIns="0" bIns="0">
            <a:spAutoFit/>
          </a:bodyPr>
          <a:lstStyle/>
          <a:p>
            <a:pPr>
              <a:defRPr sz="1300" b="1">
                <a:solidFill>
                  <a:srgbClr val="1F2933"/>
                </a:solidFill>
                <a:latin typeface="Arial"/>
              </a:defRPr>
            </a:pPr>
            <a:r>
              <a:t>🌱 STAGE 1: B2C (Farmers)</a:t>
            </a:r>
          </a:p>
          <a:p>
            <a:pPr>
              <a:spcBef>
                <a:spcPts val="400"/>
              </a:spcBef>
              <a:defRPr sz="1100">
                <a:solidFill>
                  <a:srgbClr val="667085"/>
                </a:solidFill>
                <a:latin typeface="Arial"/>
              </a:defRPr>
            </a:pPr>
            <a:r>
              <a:t>• Free core decision-support utility to build grassroots trust.</a:t>
            </a:r>
            <a:br/>
            <a:r>
              <a:t>• Optional premium tier: high-frequency satellite monitoring &amp; dedicated crop disease specialist consultation.</a:t>
            </a:r>
          </a:p>
        </p:txBody>
      </p:sp>
      <p:sp>
        <p:nvSpPr>
          <p:cNvPr id="8" name="Rounded Rectangle 7"/>
          <p:cNvSpPr/>
          <p:nvPr/>
        </p:nvSpPr>
        <p:spPr>
          <a:xfrm>
            <a:off x="4425696" y="2194560"/>
            <a:ext cx="3328416" cy="2926080"/>
          </a:xfrm>
          <a:prstGeom prst="roundRect">
            <a:avLst/>
          </a:prstGeom>
          <a:solidFill>
            <a:srgbClr val="F4FAF0"/>
          </a:solidFill>
          <a:ln w="19050">
            <a:solidFill>
              <a:srgbClr val="587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2331720"/>
            <a:ext cx="2999232" cy="2651760"/>
          </a:xfrm>
          <a:prstGeom prst="rect">
            <a:avLst/>
          </a:prstGeom>
          <a:noFill/>
        </p:spPr>
        <p:txBody>
          <a:bodyPr wrap="square" lIns="0" tIns="0" rIns="0" bIns="0">
            <a:spAutoFit/>
          </a:bodyPr>
          <a:lstStyle/>
          <a:p>
            <a:pPr>
              <a:defRPr sz="1300" b="1">
                <a:solidFill>
                  <a:srgbClr val="1F2933"/>
                </a:solidFill>
                <a:latin typeface="Arial"/>
              </a:defRPr>
            </a:pPr>
            <a:r>
              <a:t>🌾 STAGE 2: B2B (FPOs)</a:t>
            </a:r>
          </a:p>
          <a:p>
            <a:pPr>
              <a:spcBef>
                <a:spcPts val="400"/>
              </a:spcBef>
              <a:defRPr sz="1100">
                <a:solidFill>
                  <a:srgbClr val="667085"/>
                </a:solidFill>
                <a:latin typeface="Arial"/>
              </a:defRPr>
            </a:pPr>
            <a:r>
              <a:t>• Subscription dashboards for Farmer Producer Organizations.</a:t>
            </a:r>
            <a:br/>
            <a:r>
              <a:t>• Cluster-level crop tracking, harvest scheduling, &amp; bulk mandi price spread intelligence.</a:t>
            </a:r>
          </a:p>
        </p:txBody>
      </p:sp>
      <p:sp>
        <p:nvSpPr>
          <p:cNvPr id="10" name="Rounded Rectangle 9"/>
          <p:cNvSpPr/>
          <p:nvPr/>
        </p:nvSpPr>
        <p:spPr>
          <a:xfrm>
            <a:off x="8119872" y="2194560"/>
            <a:ext cx="3328416" cy="292608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2331720"/>
            <a:ext cx="2999232" cy="2651760"/>
          </a:xfrm>
          <a:prstGeom prst="rect">
            <a:avLst/>
          </a:prstGeom>
          <a:noFill/>
        </p:spPr>
        <p:txBody>
          <a:bodyPr wrap="square" lIns="0" tIns="0" rIns="0" bIns="0">
            <a:spAutoFit/>
          </a:bodyPr>
          <a:lstStyle/>
          <a:p>
            <a:pPr>
              <a:defRPr sz="1300" b="1">
                <a:solidFill>
                  <a:srgbClr val="1F2933"/>
                </a:solidFill>
                <a:latin typeface="Arial"/>
              </a:defRPr>
            </a:pPr>
            <a:r>
              <a:t>🏢 STAGE 3: Institutional (SaaS)</a:t>
            </a:r>
          </a:p>
          <a:p>
            <a:pPr>
              <a:spcBef>
                <a:spcPts val="400"/>
              </a:spcBef>
              <a:defRPr sz="1100">
                <a:solidFill>
                  <a:srgbClr val="667085"/>
                </a:solidFill>
                <a:latin typeface="Arial"/>
              </a:defRPr>
            </a:pPr>
            <a:r>
              <a:t>• Enterprise SaaS tools for state extension programs, agricultural NGOs, &amp; crop insurance verification pipelines.</a:t>
            </a:r>
            <a:br/>
            <a:r>
              <a:t>• Aggregated regional agronomic indices via API.</a:t>
            </a:r>
          </a:p>
        </p:txBody>
      </p:sp>
      <p:sp>
        <p:nvSpPr>
          <p:cNvPr id="12" name="Rounded Rectangle 11"/>
          <p:cNvSpPr/>
          <p:nvPr/>
        </p:nvSpPr>
        <p:spPr>
          <a:xfrm>
            <a:off x="731520" y="5303520"/>
            <a:ext cx="10728655" cy="822960"/>
          </a:xfrm>
          <a:prstGeom prst="roundRect">
            <a:avLst/>
          </a:prstGeom>
          <a:solidFill>
            <a:srgbClr val="FEFDF6"/>
          </a:solidFill>
          <a:ln w="19050">
            <a:solidFill>
              <a:srgbClr val="F4D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5440680"/>
            <a:ext cx="10399471" cy="548640"/>
          </a:xfrm>
          <a:prstGeom prst="rect">
            <a:avLst/>
          </a:prstGeom>
          <a:noFill/>
        </p:spPr>
        <p:txBody>
          <a:bodyPr wrap="square" lIns="0" tIns="0" rIns="0" bIns="0">
            <a:spAutoFit/>
          </a:bodyPr>
          <a:lstStyle/>
          <a:p>
            <a:pPr>
              <a:defRPr sz="1300" b="1">
                <a:solidFill>
                  <a:srgbClr val="1F2933"/>
                </a:solidFill>
                <a:latin typeface="Arial"/>
              </a:defRPr>
            </a:pPr>
            <a:r>
              <a:t>📈 Growth Trajectory</a:t>
            </a:r>
          </a:p>
          <a:p>
            <a:pPr>
              <a:spcBef>
                <a:spcPts val="400"/>
              </a:spcBef>
              <a:defRPr sz="1100">
                <a:solidFill>
                  <a:srgbClr val="667085"/>
                </a:solidFill>
                <a:latin typeface="Arial"/>
              </a:defRPr>
            </a:pPr>
            <a:r>
              <a:t>Individual Farmers ──&gt; FPOs &amp; Collectives ──&gt; Agricultural Enterprises ──&gt; Sustainable Agritech Ecosystem.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548640"/>
          </a:xfrm>
          <a:prstGeom prst="rect">
            <a:avLst/>
          </a:prstGeom>
          <a:noFill/>
        </p:spPr>
        <p:txBody>
          <a:bodyPr wrap="square" lIns="0" tIns="0" rIns="0" bIns="0">
            <a:spAutoFit/>
          </a:bodyPr>
          <a:lstStyle/>
          <a:p>
            <a:pPr>
              <a:defRPr sz="1400" b="1">
                <a:solidFill>
                  <a:srgbClr val="587A4C"/>
                </a:solidFill>
                <a:latin typeface="Arial"/>
              </a:defRPr>
            </a:pPr>
            <a:r>
              <a:t>🌾 KisanMitra  |  </a:t>
            </a:r>
            <a:r>
              <a:rPr sz="1300" b="0">
                <a:solidFill>
                  <a:srgbClr val="667085"/>
                </a:solidFill>
              </a:rPr>
              <a:t>HACKDAY 1.0 — Tech for a Better Tomorrow</a:t>
            </a:r>
          </a:p>
        </p:txBody>
      </p:sp>
      <p:sp>
        <p:nvSpPr>
          <p:cNvPr id="4" name="TextBox 3"/>
          <p:cNvSpPr txBox="1"/>
          <p:nvPr/>
        </p:nvSpPr>
        <p:spPr>
          <a:xfrm>
            <a:off x="9601200" y="365760"/>
            <a:ext cx="1828800" cy="548640"/>
          </a:xfrm>
          <a:prstGeom prst="rect">
            <a:avLst/>
          </a:prstGeom>
          <a:noFill/>
        </p:spPr>
        <p:txBody>
          <a:bodyPr wrap="none">
            <a:spAutoFit/>
          </a:bodyPr>
          <a:lstStyle/>
          <a:p>
            <a:pPr algn="r">
              <a:defRPr sz="1200" b="1">
                <a:solidFill>
                  <a:srgbClr val="667085"/>
                </a:solidFill>
              </a:defRPr>
            </a:pPr>
            <a:r>
              <a:t>Slide 6 of 7</a:t>
            </a:r>
          </a:p>
        </p:txBody>
      </p:sp>
      <p:sp>
        <p:nvSpPr>
          <p:cNvPr id="5" name="TextBox 4"/>
          <p:cNvSpPr txBox="1"/>
          <p:nvPr/>
        </p:nvSpPr>
        <p:spPr>
          <a:xfrm>
            <a:off x="731520" y="1005840"/>
            <a:ext cx="10728655" cy="1097280"/>
          </a:xfrm>
          <a:prstGeom prst="rect">
            <a:avLst/>
          </a:prstGeom>
          <a:noFill/>
        </p:spPr>
        <p:txBody>
          <a:bodyPr wrap="square">
            <a:spAutoFit/>
          </a:bodyPr>
          <a:lstStyle/>
          <a:p>
            <a:pPr>
              <a:defRPr sz="2200" b="1">
                <a:solidFill>
                  <a:srgbClr val="1F2933"/>
                </a:solidFill>
              </a:defRPr>
            </a:pPr>
            <a:r>
              <a:t>Building the Connected Farm</a:t>
            </a:r>
          </a:p>
          <a:p>
            <a:pPr>
              <a:spcBef>
                <a:spcPts val="400"/>
              </a:spcBef>
              <a:defRPr sz="1300" b="1">
                <a:solidFill>
                  <a:srgbClr val="587A4C"/>
                </a:solidFill>
              </a:defRPr>
            </a:pPr>
            <a:r>
              <a:t>The Evolution from Decision Support to Autonomous Farm Intelligence</a:t>
            </a:r>
          </a:p>
        </p:txBody>
      </p:sp>
      <p:sp>
        <p:nvSpPr>
          <p:cNvPr id="6" name="Rounded Rectangle 5"/>
          <p:cNvSpPr/>
          <p:nvPr/>
        </p:nvSpPr>
        <p:spPr>
          <a:xfrm>
            <a:off x="731520" y="2194560"/>
            <a:ext cx="3328416" cy="2926080"/>
          </a:xfrm>
          <a:prstGeom prst="roundRect">
            <a:avLst/>
          </a:prstGeom>
          <a:solidFill>
            <a:srgbClr val="F4FAF0"/>
          </a:solidFill>
          <a:ln w="19050">
            <a:solidFill>
              <a:srgbClr val="587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331720"/>
            <a:ext cx="2999232" cy="2651760"/>
          </a:xfrm>
          <a:prstGeom prst="rect">
            <a:avLst/>
          </a:prstGeom>
          <a:noFill/>
        </p:spPr>
        <p:txBody>
          <a:bodyPr wrap="square" lIns="0" tIns="0" rIns="0" bIns="0">
            <a:spAutoFit/>
          </a:bodyPr>
          <a:lstStyle/>
          <a:p>
            <a:pPr>
              <a:defRPr sz="1300" b="1">
                <a:solidFill>
                  <a:srgbClr val="1F2933"/>
                </a:solidFill>
                <a:latin typeface="Arial"/>
              </a:defRPr>
            </a:pPr>
            <a:r>
              <a:t>TODAY: Decision Support (Live)</a:t>
            </a:r>
          </a:p>
          <a:p>
            <a:pPr>
              <a:spcBef>
                <a:spcPts val="400"/>
              </a:spcBef>
              <a:defRPr sz="1100">
                <a:solidFill>
                  <a:srgbClr val="667085"/>
                </a:solidFill>
                <a:latin typeface="Arial"/>
              </a:defRPr>
            </a:pPr>
            <a:r>
              <a:t>✅ 8 Unified Intelligence Modules.</a:t>
            </a:r>
            <a:br/>
            <a:r>
              <a:t>✅ Gemini 1.5 Flash leaf vision diagnosis.</a:t>
            </a:r>
            <a:br/>
            <a:r>
              <a:t>✅ Deterministic ICAR soil evaluation.</a:t>
            </a:r>
            <a:br/>
            <a:r>
              <a:t>✅ Hyperlocal weather spray indices.</a:t>
            </a:r>
            <a:br/>
            <a:r>
              <a:t>✅ APMC wholesale mandi rates.</a:t>
            </a:r>
            <a:br/>
            <a:r>
              <a:t>✅ 5 Indian languages with 100% parity.</a:t>
            </a:r>
          </a:p>
        </p:txBody>
      </p:sp>
      <p:sp>
        <p:nvSpPr>
          <p:cNvPr id="8" name="Rounded Rectangle 7"/>
          <p:cNvSpPr/>
          <p:nvPr/>
        </p:nvSpPr>
        <p:spPr>
          <a:xfrm>
            <a:off x="4425696" y="2194560"/>
            <a:ext cx="3328416" cy="292608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2331720"/>
            <a:ext cx="2999232" cy="2651760"/>
          </a:xfrm>
          <a:prstGeom prst="rect">
            <a:avLst/>
          </a:prstGeom>
          <a:noFill/>
        </p:spPr>
        <p:txBody>
          <a:bodyPr wrap="square" lIns="0" tIns="0" rIns="0" bIns="0">
            <a:spAutoFit/>
          </a:bodyPr>
          <a:lstStyle/>
          <a:p>
            <a:pPr>
              <a:defRPr sz="1300" b="1">
                <a:solidFill>
                  <a:srgbClr val="1F2933"/>
                </a:solidFill>
                <a:latin typeface="Arial"/>
              </a:defRPr>
            </a:pPr>
            <a:r>
              <a:t>NEXT: Real-Time Intelligence</a:t>
            </a:r>
          </a:p>
          <a:p>
            <a:pPr>
              <a:spcBef>
                <a:spcPts val="400"/>
              </a:spcBef>
              <a:defRPr sz="1100">
                <a:solidFill>
                  <a:srgbClr val="667085"/>
                </a:solidFill>
                <a:latin typeface="Arial"/>
              </a:defRPr>
            </a:pPr>
            <a:r>
              <a:t>🔮 Voice-first regional AI (Bhashini/IndicVoice).</a:t>
            </a:r>
            <a:br/>
            <a:r>
              <a:t>🔮 Automated proactive push alerts.</a:t>
            </a:r>
            <a:br/>
            <a:r>
              <a:t>🔮 IoT soil moisture &amp; NPK telemetry.</a:t>
            </a:r>
            <a:br/>
            <a:r>
              <a:t>🔮 1-Click expert KVK agronomist connect.</a:t>
            </a:r>
          </a:p>
        </p:txBody>
      </p:sp>
      <p:sp>
        <p:nvSpPr>
          <p:cNvPr id="10" name="Rounded Rectangle 9"/>
          <p:cNvSpPr/>
          <p:nvPr/>
        </p:nvSpPr>
        <p:spPr>
          <a:xfrm>
            <a:off x="8119872" y="2194560"/>
            <a:ext cx="3328416" cy="292608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2331720"/>
            <a:ext cx="2999232" cy="2651760"/>
          </a:xfrm>
          <a:prstGeom prst="rect">
            <a:avLst/>
          </a:prstGeom>
          <a:noFill/>
        </p:spPr>
        <p:txBody>
          <a:bodyPr wrap="square" lIns="0" tIns="0" rIns="0" bIns="0">
            <a:spAutoFit/>
          </a:bodyPr>
          <a:lstStyle/>
          <a:p>
            <a:pPr>
              <a:defRPr sz="1300" b="1">
                <a:solidFill>
                  <a:srgbClr val="1F2933"/>
                </a:solidFill>
                <a:latin typeface="Arial"/>
              </a:defRPr>
            </a:pPr>
            <a:r>
              <a:t>FUTURE: Predictive Agriculture</a:t>
            </a:r>
          </a:p>
          <a:p>
            <a:pPr>
              <a:spcBef>
                <a:spcPts val="400"/>
              </a:spcBef>
              <a:defRPr sz="1100">
                <a:solidFill>
                  <a:srgbClr val="667085"/>
                </a:solidFill>
                <a:latin typeface="Arial"/>
              </a:defRPr>
            </a:pPr>
            <a:r>
              <a:t>🚀 Sentinel-2 satellite NDVI remote sensing.</a:t>
            </a:r>
            <a:br/>
            <a:r>
              <a:t>🚀 Predictive pest outbreak forecasting.</a:t>
            </a:r>
            <a:br/>
            <a:r>
              <a:t>🚀 FPO collective bargaining tools.</a:t>
            </a:r>
            <a:br/>
            <a:r>
              <a:t>🚀 Climate-resilient farm digital twins.</a:t>
            </a:r>
          </a:p>
        </p:txBody>
      </p:sp>
      <p:sp>
        <p:nvSpPr>
          <p:cNvPr id="12" name="Rounded Rectangle 11"/>
          <p:cNvSpPr/>
          <p:nvPr/>
        </p:nvSpPr>
        <p:spPr>
          <a:xfrm>
            <a:off x="731520" y="5303520"/>
            <a:ext cx="10728655" cy="822960"/>
          </a:xfrm>
          <a:prstGeom prst="roundRect">
            <a:avLst/>
          </a:prstGeom>
          <a:solidFill>
            <a:srgbClr val="F7F5EC"/>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5440680"/>
            <a:ext cx="10399471" cy="548640"/>
          </a:xfrm>
          <a:prstGeom prst="rect">
            <a:avLst/>
          </a:prstGeom>
          <a:noFill/>
        </p:spPr>
        <p:txBody>
          <a:bodyPr wrap="square" lIns="0" tIns="0" rIns="0" bIns="0">
            <a:spAutoFit/>
          </a:bodyPr>
          <a:lstStyle/>
          <a:p>
            <a:pPr>
              <a:defRPr sz="1300" b="1">
                <a:solidFill>
                  <a:srgbClr val="1F2933"/>
                </a:solidFill>
                <a:latin typeface="Arial"/>
              </a:defRPr>
            </a:pPr>
            <a:r>
              <a:t>🌐 Long-Term Vision</a:t>
            </a:r>
          </a:p>
          <a:p>
            <a:pPr>
              <a:spcBef>
                <a:spcPts val="400"/>
              </a:spcBef>
              <a:defRPr sz="1100">
                <a:solidFill>
                  <a:srgbClr val="667085"/>
                </a:solidFill>
                <a:latin typeface="Arial"/>
              </a:defRPr>
            </a:pPr>
            <a:r>
              <a:t>Transforming reactive farming into predictive, connected, and climate-resilient agriculture for smallholders.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548640"/>
          </a:xfrm>
          <a:prstGeom prst="rect">
            <a:avLst/>
          </a:prstGeom>
          <a:noFill/>
        </p:spPr>
        <p:txBody>
          <a:bodyPr wrap="square" lIns="0" tIns="0" rIns="0" bIns="0">
            <a:spAutoFit/>
          </a:bodyPr>
          <a:lstStyle/>
          <a:p>
            <a:pPr>
              <a:defRPr sz="1400" b="1">
                <a:solidFill>
                  <a:srgbClr val="587A4C"/>
                </a:solidFill>
                <a:latin typeface="Arial"/>
              </a:defRPr>
            </a:pPr>
            <a:r>
              <a:t>🌾 KisanMitra  |  </a:t>
            </a:r>
            <a:r>
              <a:rPr sz="1300" b="0">
                <a:solidFill>
                  <a:srgbClr val="667085"/>
                </a:solidFill>
              </a:rPr>
              <a:t>HACKDAY 1.0 — Tech for a Better Tomorrow</a:t>
            </a:r>
          </a:p>
        </p:txBody>
      </p:sp>
      <p:sp>
        <p:nvSpPr>
          <p:cNvPr id="4" name="TextBox 3"/>
          <p:cNvSpPr txBox="1"/>
          <p:nvPr/>
        </p:nvSpPr>
        <p:spPr>
          <a:xfrm>
            <a:off x="9601200" y="365760"/>
            <a:ext cx="1828800" cy="548640"/>
          </a:xfrm>
          <a:prstGeom prst="rect">
            <a:avLst/>
          </a:prstGeom>
          <a:noFill/>
        </p:spPr>
        <p:txBody>
          <a:bodyPr wrap="none">
            <a:spAutoFit/>
          </a:bodyPr>
          <a:lstStyle/>
          <a:p>
            <a:pPr algn="r">
              <a:defRPr sz="1200" b="1">
                <a:solidFill>
                  <a:srgbClr val="667085"/>
                </a:solidFill>
              </a:defRPr>
            </a:pPr>
            <a:r>
              <a:t>Slide 7 of 7</a:t>
            </a:r>
          </a:p>
        </p:txBody>
      </p:sp>
      <p:sp>
        <p:nvSpPr>
          <p:cNvPr id="5" name="TextBox 4"/>
          <p:cNvSpPr txBox="1"/>
          <p:nvPr/>
        </p:nvSpPr>
        <p:spPr>
          <a:xfrm>
            <a:off x="731520" y="1005840"/>
            <a:ext cx="10728655" cy="1097280"/>
          </a:xfrm>
          <a:prstGeom prst="rect">
            <a:avLst/>
          </a:prstGeom>
          <a:noFill/>
        </p:spPr>
        <p:txBody>
          <a:bodyPr wrap="square">
            <a:spAutoFit/>
          </a:bodyPr>
          <a:lstStyle/>
          <a:p>
            <a:pPr>
              <a:defRPr sz="2200" b="1">
                <a:solidFill>
                  <a:srgbClr val="1F2933"/>
                </a:solidFill>
              </a:defRPr>
            </a:pPr>
            <a:r>
              <a:t>If We Had More Time</a:t>
            </a:r>
          </a:p>
          <a:p>
            <a:pPr>
              <a:spcBef>
                <a:spcPts val="400"/>
              </a:spcBef>
              <a:defRPr sz="1300" b="1">
                <a:solidFill>
                  <a:srgbClr val="587A4C"/>
                </a:solidFill>
              </a:defRPr>
            </a:pPr>
            <a:r>
              <a:t>What would we build next with additional time and resources?</a:t>
            </a:r>
          </a:p>
        </p:txBody>
      </p:sp>
      <p:sp>
        <p:nvSpPr>
          <p:cNvPr id="6" name="Rounded Rectangle 5"/>
          <p:cNvSpPr/>
          <p:nvPr/>
        </p:nvSpPr>
        <p:spPr>
          <a:xfrm>
            <a:off x="731520" y="2194560"/>
            <a:ext cx="5212080" cy="137160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331720"/>
            <a:ext cx="4882896" cy="1097280"/>
          </a:xfrm>
          <a:prstGeom prst="rect">
            <a:avLst/>
          </a:prstGeom>
          <a:noFill/>
        </p:spPr>
        <p:txBody>
          <a:bodyPr wrap="square" lIns="0" tIns="0" rIns="0" bIns="0">
            <a:spAutoFit/>
          </a:bodyPr>
          <a:lstStyle/>
          <a:p>
            <a:pPr>
              <a:defRPr sz="1300" b="1">
                <a:solidFill>
                  <a:srgbClr val="1F2933"/>
                </a:solidFill>
                <a:latin typeface="Arial"/>
              </a:defRPr>
            </a:pPr>
            <a:r>
              <a:t>🎙️ 1. Voice-First Farmer Assistant</a:t>
            </a:r>
          </a:p>
          <a:p>
            <a:pPr>
              <a:spcBef>
                <a:spcPts val="400"/>
              </a:spcBef>
              <a:defRPr sz="1100">
                <a:solidFill>
                  <a:srgbClr val="667085"/>
                </a:solidFill>
                <a:latin typeface="Arial"/>
              </a:defRPr>
            </a:pPr>
            <a:r>
              <a:t>Native voice-in / voice-out interaction in regional dialects (IndicWhisper / Bhashini) ensuring accessibility for elderly &amp; non-literate farmers.</a:t>
            </a:r>
          </a:p>
        </p:txBody>
      </p:sp>
      <p:sp>
        <p:nvSpPr>
          <p:cNvPr id="8" name="Rounded Rectangle 7"/>
          <p:cNvSpPr/>
          <p:nvPr/>
        </p:nvSpPr>
        <p:spPr>
          <a:xfrm>
            <a:off x="6245352" y="2194560"/>
            <a:ext cx="5212080" cy="137160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9944" y="2331720"/>
            <a:ext cx="4882896" cy="1097280"/>
          </a:xfrm>
          <a:prstGeom prst="rect">
            <a:avLst/>
          </a:prstGeom>
          <a:noFill/>
        </p:spPr>
        <p:txBody>
          <a:bodyPr wrap="square" lIns="0" tIns="0" rIns="0" bIns="0">
            <a:spAutoFit/>
          </a:bodyPr>
          <a:lstStyle/>
          <a:p>
            <a:pPr>
              <a:defRPr sz="1300" b="1">
                <a:solidFill>
                  <a:srgbClr val="1F2933"/>
                </a:solidFill>
                <a:latin typeface="Arial"/>
              </a:defRPr>
            </a:pPr>
            <a:r>
              <a:t>🛰️ 2. Satellite (NDVI) + IoT Telemetry</a:t>
            </a:r>
          </a:p>
          <a:p>
            <a:pPr>
              <a:spcBef>
                <a:spcPts val="400"/>
              </a:spcBef>
              <a:defRPr sz="1100">
                <a:solidFill>
                  <a:srgbClr val="667085"/>
                </a:solidFill>
                <a:latin typeface="Arial"/>
              </a:defRPr>
            </a:pPr>
            <a:r>
              <a:t>Live Sentinel-2 vegetative health mapping paired with on-field moisture &amp; NPK sensor telemetry.</a:t>
            </a:r>
          </a:p>
        </p:txBody>
      </p:sp>
      <p:sp>
        <p:nvSpPr>
          <p:cNvPr id="10" name="Rounded Rectangle 9"/>
          <p:cNvSpPr/>
          <p:nvPr/>
        </p:nvSpPr>
        <p:spPr>
          <a:xfrm>
            <a:off x="731520" y="3749039"/>
            <a:ext cx="5212080" cy="137160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886199"/>
            <a:ext cx="4882896" cy="1097280"/>
          </a:xfrm>
          <a:prstGeom prst="rect">
            <a:avLst/>
          </a:prstGeom>
          <a:noFill/>
        </p:spPr>
        <p:txBody>
          <a:bodyPr wrap="square" lIns="0" tIns="0" rIns="0" bIns="0">
            <a:spAutoFit/>
          </a:bodyPr>
          <a:lstStyle/>
          <a:p>
            <a:pPr>
              <a:defRPr sz="1300" b="1">
                <a:solidFill>
                  <a:srgbClr val="1F2933"/>
                </a:solidFill>
                <a:latin typeface="Arial"/>
              </a:defRPr>
            </a:pPr>
            <a:r>
              <a:t>🔮 3. Predictive Crop Risk &amp; Pest Cycles</a:t>
            </a:r>
          </a:p>
          <a:p>
            <a:pPr>
              <a:spcBef>
                <a:spcPts val="400"/>
              </a:spcBef>
              <a:defRPr sz="1100">
                <a:solidFill>
                  <a:srgbClr val="667085"/>
                </a:solidFill>
                <a:latin typeface="Arial"/>
              </a:defRPr>
            </a:pPr>
            <a:r>
              <a:t>Correlating meteorological spikes with historical pest outbreak cycles 7 days before visible symptoms appear.</a:t>
            </a:r>
          </a:p>
        </p:txBody>
      </p:sp>
      <p:sp>
        <p:nvSpPr>
          <p:cNvPr id="12" name="Rounded Rectangle 11"/>
          <p:cNvSpPr/>
          <p:nvPr/>
        </p:nvSpPr>
        <p:spPr>
          <a:xfrm>
            <a:off x="6245352" y="3749039"/>
            <a:ext cx="5212080" cy="1371600"/>
          </a:xfrm>
          <a:prstGeom prst="roundRect">
            <a:avLst/>
          </a:prstGeom>
          <a:solidFill>
            <a:srgbClr val="FFFFFF"/>
          </a:solidFill>
          <a:ln w="1905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3886199"/>
            <a:ext cx="4882896" cy="1097280"/>
          </a:xfrm>
          <a:prstGeom prst="rect">
            <a:avLst/>
          </a:prstGeom>
          <a:noFill/>
        </p:spPr>
        <p:txBody>
          <a:bodyPr wrap="square" lIns="0" tIns="0" rIns="0" bIns="0">
            <a:spAutoFit/>
          </a:bodyPr>
          <a:lstStyle/>
          <a:p>
            <a:pPr>
              <a:defRPr sz="1300" b="1">
                <a:solidFill>
                  <a:srgbClr val="1F2933"/>
                </a:solidFill>
                <a:latin typeface="Arial"/>
              </a:defRPr>
            </a:pPr>
            <a:r>
              <a:t>👨‍🔬 4. 1-Click KVK &amp; Tele-Agronomist Connect</a:t>
            </a:r>
          </a:p>
          <a:p>
            <a:pPr>
              <a:spcBef>
                <a:spcPts val="400"/>
              </a:spcBef>
              <a:defRPr sz="1100">
                <a:solidFill>
                  <a:srgbClr val="667085"/>
                </a:solidFill>
                <a:latin typeface="Arial"/>
              </a:defRPr>
            </a:pPr>
            <a:r>
              <a:t>Live video/audio consultation escalation to certified Krishi Vigyan Kendra agronomists for uncertain diagnostics.</a:t>
            </a:r>
          </a:p>
        </p:txBody>
      </p:sp>
      <p:sp>
        <p:nvSpPr>
          <p:cNvPr id="14" name="Rounded Rectangle 13"/>
          <p:cNvSpPr/>
          <p:nvPr/>
        </p:nvSpPr>
        <p:spPr>
          <a:xfrm>
            <a:off x="731520" y="5303520"/>
            <a:ext cx="10728655" cy="914400"/>
          </a:xfrm>
          <a:prstGeom prst="roundRect">
            <a:avLst/>
          </a:prstGeom>
          <a:solidFill>
            <a:srgbClr val="F3F7F1"/>
          </a:solidFill>
          <a:ln w="19050">
            <a:solidFill>
              <a:srgbClr val="587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440680"/>
            <a:ext cx="10399471" cy="640080"/>
          </a:xfrm>
          <a:prstGeom prst="rect">
            <a:avLst/>
          </a:prstGeom>
          <a:noFill/>
        </p:spPr>
        <p:txBody>
          <a:bodyPr wrap="square" lIns="0" tIns="0" rIns="0" bIns="0">
            <a:spAutoFit/>
          </a:bodyPr>
          <a:lstStyle/>
          <a:p>
            <a:pPr>
              <a:defRPr sz="1300" b="1">
                <a:solidFill>
                  <a:srgbClr val="1F2933"/>
                </a:solidFill>
                <a:latin typeface="Arial"/>
              </a:defRPr>
            </a:pPr>
            <a:r>
              <a:t>🌾 Final Closing Statement</a:t>
            </a:r>
          </a:p>
          <a:p>
            <a:pPr>
              <a:spcBef>
                <a:spcPts val="400"/>
              </a:spcBef>
              <a:defRPr sz="1100">
                <a:solidFill>
                  <a:srgbClr val="667085"/>
                </a:solidFill>
                <a:latin typeface="Arial"/>
              </a:defRPr>
            </a:pPr>
            <a:r>
              <a:t>“KisanMitra is not just an AI farming app. It is a connected decision layer for agriculture.”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